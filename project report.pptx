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1568" y="0"/>
            <a:ext cx="256032" cy="68580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MOVIE
RECOMMENDATION
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03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CEBF0"/>
                </a:solidFill>
                <a:latin typeface="Aptos"/>
              </a:rPr>
              <a:t>Python Essentials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417320"/>
            <a:ext cx="7132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2A48"/>
                </a:solidFill>
                <a:latin typeface="Aptos"/>
              </a:rPr>
              <a:t>A menu-driven movie browsing and recommendation program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2743200"/>
            <a:ext cx="3383280" cy="11430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79392" y="2743200"/>
            <a:ext cx="73152" cy="11430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88950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273552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S SUNDAR SUHAS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83280" cy="114300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743200"/>
            <a:ext cx="73152" cy="114300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288950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Registration 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3273552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26BCE11114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4160520"/>
            <a:ext cx="3383280" cy="9601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4160520"/>
            <a:ext cx="73152" cy="9601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3068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690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Python Essentials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160520"/>
            <a:ext cx="3383280" cy="9601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4160520"/>
            <a:ext cx="73152" cy="9601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8" y="43068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Academic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4690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What the current Python program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42A48"/>
                </a:solidFill>
                <a:latin typeface="Aptos"/>
              </a:rPr>
              <a:t>The project is a terminal-based movie recommendation system built using core Python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383280" cy="18288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73152" cy="18288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780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Movie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62072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Movies are stored in genre-wise Python lists. Each movie contains name, rating, year and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331720"/>
            <a:ext cx="3383280" cy="18288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331720"/>
            <a:ext cx="73152" cy="18288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4780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User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862072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The user works through menus in the terminal using input() and receives formatted results using print().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331720"/>
            <a:ext cx="3383280" cy="182880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2331720"/>
            <a:ext cx="73152" cy="182880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4780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Recommendation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862072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The program provides genre browsing, top-rated movies and a random movie, plus language filtering and a watchlist.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26C76"/>
                </a:solidFill>
                <a:latin typeface="Aptos"/>
              </a:rPr>
              <a:t>No machine learning, external API or database is used by the supplied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2A48"/>
                </a:solidFill>
                <a:latin typeface="Aptos"/>
              </a:rPr>
              <a:t>Users may have many movies to choose from but may not know what to watch.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3108960" cy="1874519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23160"/>
            <a:ext cx="73152" cy="1874519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5694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953512"/>
            <a:ext cx="274320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Choosing a movie can be time-consuming when titles are spread across different genres and languages.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23160"/>
            <a:ext cx="3108960" cy="1874519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423160"/>
            <a:ext cx="73152" cy="1874519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25694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953512"/>
            <a:ext cx="274320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Provide one simple terminal program that organizes movies and offers several ways to discover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23160"/>
            <a:ext cx="3108960" cy="1874519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23160"/>
            <a:ext cx="73152" cy="1874519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5694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953512"/>
            <a:ext cx="274320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The user can quickly browse, filter, select a random movie, view highly rated movies or save titles to a watchlist.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Build a beginner-friendly command-line movie recommendation system using Python.</a:t>
            </a:r>
          </a:p>
          <a:p>
            <a:pPr>
              <a:spcAft>
                <a:spcPts val="9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Organize movies by genre with rating, release year and language information.</a:t>
            </a:r>
          </a:p>
          <a:p>
            <a:pPr>
              <a:spcAft>
                <a:spcPts val="9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Provide multiple ways to discover movies: genre, rating, random choice and language.</a:t>
            </a:r>
          </a:p>
          <a:p>
            <a:pPr>
              <a:spcAft>
                <a:spcPts val="9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Allow users to maintain a simple in-memory watchlist during the program session.</a:t>
            </a:r>
          </a:p>
          <a:p>
            <a:pPr>
              <a:spcAft>
                <a:spcPts val="9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Demonstrate Python fundamentals such as lists, loops, conditions, functions, input/output and the random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4.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Functions directly supported by the supplied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971800" cy="150876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50876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1. Browse by Genre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2606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Choose Action, Sci-Fi, Drama, Thriller, Comedy, Romance or Animation.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17320"/>
            <a:ext cx="2971800" cy="150876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417320"/>
            <a:ext cx="73152" cy="150876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563624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2. Top 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947672"/>
            <a:ext cx="2606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Display the top 10 movies by rating.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971800" cy="150876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1417320"/>
            <a:ext cx="73152" cy="150876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1563624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3. Random Movie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947672"/>
            <a:ext cx="2606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Select one movie randomly using Python's random module.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2971800" cy="150876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73152" cy="150876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483864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4. Language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67911"/>
            <a:ext cx="2606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Show movies matching the language entered by the user.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337560"/>
            <a:ext cx="2971800" cy="150876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337560"/>
            <a:ext cx="73152" cy="150876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3483864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5. Watchlist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867911"/>
            <a:ext cx="2606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Add movie names and view the watchlist during the current run.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337560"/>
            <a:ext cx="2971800" cy="150876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3337560"/>
            <a:ext cx="73152" cy="150876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3483864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6. Exit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3867911"/>
            <a:ext cx="2606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Close the application from the main menu.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5. Non-Functional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Usability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Simple numbered menus, clear prompts and readable terminal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4173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73152" cy="14173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636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947672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Invalid menu choices and unknown languages are handled with messages instead of crashing.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417320"/>
            <a:ext cx="3383280" cy="141732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417320"/>
            <a:ext cx="73152" cy="141732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5636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Maintainability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947672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The program is divided into functions such as genre_menu(), random_movie() and watchlist_menu().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3383280" cy="14173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73152" cy="14173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92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Movie data is kept in memory, so lookups and filtering are straightforward for the current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3246120"/>
            <a:ext cx="3383280" cy="141732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246120"/>
            <a:ext cx="73152" cy="141732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3392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Resource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3776472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The application uses only standard Python features and the random module.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3246120"/>
            <a:ext cx="3383280" cy="141732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3246120"/>
            <a:ext cx="73152" cy="141732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33924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Session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3776472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The watchlist exists in memory and lasts only while the program is running.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Simple function-based architecture of the supplied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108960" cy="658368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32B34"/>
                </a:solidFill>
                <a:latin typeface="Aptos"/>
              </a:rPr>
              <a:t>Command-Line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9842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26C76"/>
                </a:solidFill>
                <a:latin typeface="Aptos"/>
              </a:rPr>
              <a:t>input()  •  print()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2423160" cy="65836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Menu 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743200"/>
            <a:ext cx="2423160" cy="65836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Recommendation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2423160" cy="65836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Filter / Watchlist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743200"/>
            <a:ext cx="1828800" cy="65836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Utilities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30552" y="1984248"/>
            <a:ext cx="3950208" cy="758952"/>
          </a:xfrm>
          <a:prstGeom prst="line">
            <a:avLst/>
          </a:prstGeom>
          <a:ln w="1905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828032" y="1984248"/>
            <a:ext cx="1252728" cy="758952"/>
          </a:xfrm>
          <a:prstGeom prst="line">
            <a:avLst/>
          </a:prstGeom>
          <a:ln w="1905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1984248"/>
            <a:ext cx="1444752" cy="758952"/>
          </a:xfrm>
          <a:prstGeom prst="line">
            <a:avLst/>
          </a:prstGeom>
          <a:ln w="1905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1984248"/>
            <a:ext cx="3840480" cy="758952"/>
          </a:xfrm>
          <a:prstGeom prst="line">
            <a:avLst/>
          </a:prstGeom>
          <a:ln w="1905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4572000"/>
            <a:ext cx="2743200" cy="713232"/>
          </a:xfrm>
          <a:prstGeom prst="roundRect">
            <a:avLst/>
          </a:prstGeom>
          <a:solidFill>
            <a:srgbClr val="FAF2DA"/>
          </a:solidFill>
          <a:ln w="1778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32B34"/>
                </a:solidFill>
                <a:latin typeface="Aptos"/>
              </a:rPr>
              <a:t>Genre Movie Lists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572000"/>
            <a:ext cx="2743200" cy="713232"/>
          </a:xfrm>
          <a:prstGeom prst="roundRect">
            <a:avLst/>
          </a:prstGeom>
          <a:solidFill>
            <a:srgbClr val="FAF2DA"/>
          </a:solidFill>
          <a:ln w="1778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32B34"/>
                </a:solidFill>
                <a:latin typeface="Aptos"/>
              </a:rPr>
              <a:t>get_all_movies()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572000"/>
            <a:ext cx="2377440" cy="713232"/>
          </a:xfrm>
          <a:prstGeom prst="roundRect">
            <a:avLst/>
          </a:prstGeom>
          <a:solidFill>
            <a:srgbClr val="FAF2DA"/>
          </a:solidFill>
          <a:ln w="1778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32B34"/>
                </a:solidFill>
                <a:latin typeface="Aptos"/>
              </a:rPr>
              <a:t>watchlist = []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30552" y="3401568"/>
            <a:ext cx="0" cy="1170432"/>
          </a:xfrm>
          <a:prstGeom prst="line">
            <a:avLst/>
          </a:prstGeom>
          <a:ln w="1905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28032" y="3401568"/>
            <a:ext cx="1252728" cy="1170432"/>
          </a:xfrm>
          <a:prstGeom prst="line">
            <a:avLst/>
          </a:prstGeom>
          <a:ln w="1905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25512" y="3401568"/>
            <a:ext cx="1984248" cy="1170432"/>
          </a:xfrm>
          <a:prstGeom prst="line">
            <a:avLst/>
          </a:prstGeom>
          <a:ln w="1905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26C76"/>
                </a:solidFill>
                <a:latin typeface="Aptos"/>
              </a:rPr>
              <a:t>The supplied code is a single Python file with multiple functions; there is no database or API layer.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7. Process Flow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Actual navigation flow of the current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188720"/>
            <a:ext cx="2560320" cy="475488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START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664208"/>
            <a:ext cx="0" cy="210311"/>
          </a:xfrm>
          <a:prstGeom prst="line">
            <a:avLst/>
          </a:prstGeom>
          <a:ln w="2286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1892807"/>
            <a:ext cx="33832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32B34"/>
                </a:solidFill>
                <a:latin typeface="Aptos"/>
              </a:rPr>
              <a:t>welcome_screen()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459736"/>
            <a:ext cx="0" cy="210312"/>
          </a:xfrm>
          <a:prstGeom prst="line">
            <a:avLst/>
          </a:prstGeom>
          <a:ln w="2286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4892040" y="2679192"/>
            <a:ext cx="2377440" cy="822960"/>
          </a:xfrm>
          <a:prstGeom prst="diamond">
            <a:avLst/>
          </a:prstGeom>
          <a:solidFill>
            <a:srgbClr val="FAF2DA"/>
          </a:solidFill>
          <a:ln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Yes / No?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154680" y="3090672"/>
            <a:ext cx="1737360" cy="0"/>
          </a:xfrm>
          <a:prstGeom prst="line">
            <a:avLst/>
          </a:prstGeom>
          <a:ln w="19050">
            <a:solidFill>
              <a:srgbClr val="B4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51560" y="2788920"/>
            <a:ext cx="2103120" cy="603504"/>
          </a:xfrm>
          <a:prstGeom prst="roundRect">
            <a:avLst/>
          </a:prstGeom>
          <a:solidFill>
            <a:srgbClr val="FAEEEE"/>
          </a:solidFill>
          <a:ln w="17780"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32B34"/>
                </a:solidFill>
                <a:latin typeface="Aptos"/>
              </a:rPr>
              <a:t>No → Try Again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103120" y="2468880"/>
            <a:ext cx="0" cy="320040"/>
          </a:xfrm>
          <a:prstGeom prst="line">
            <a:avLst/>
          </a:prstGeom>
          <a:ln w="16510">
            <a:solidFill>
              <a:srgbClr val="B4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" y="2468880"/>
            <a:ext cx="2286000" cy="0"/>
          </a:xfrm>
          <a:prstGeom prst="line">
            <a:avLst/>
          </a:prstGeom>
          <a:ln w="16510">
            <a:solidFill>
              <a:srgbClr val="B4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11680" y="340156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4646"/>
                </a:solidFill>
                <a:latin typeface="Aptos"/>
              </a:rPr>
              <a:t>repeat welcome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3090672"/>
            <a:ext cx="1188720" cy="0"/>
          </a:xfrm>
          <a:prstGeom prst="line">
            <a:avLst/>
          </a:prstGeom>
          <a:ln w="19050">
            <a:solidFill>
              <a:srgbClr val="418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58200" y="2788920"/>
            <a:ext cx="2468880" cy="603504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32B34"/>
                </a:solidFill>
                <a:latin typeface="Aptos"/>
              </a:rPr>
              <a:t>main_menu()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92640" y="3392424"/>
            <a:ext cx="0" cy="356615"/>
          </a:xfrm>
          <a:prstGeom prst="line">
            <a:avLst/>
          </a:prstGeom>
          <a:ln w="1905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4069080"/>
            <a:ext cx="1691640" cy="56692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Genre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4069080"/>
            <a:ext cx="1691640" cy="56692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Top 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069080"/>
            <a:ext cx="1691640" cy="56692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Random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069080"/>
            <a:ext cx="1691640" cy="56692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Language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4069080"/>
            <a:ext cx="1691640" cy="566928"/>
          </a:xfrm>
          <a:prstGeom prst="roundRect">
            <a:avLst/>
          </a:prstGeom>
          <a:solidFill>
            <a:srgbClr val="F2F7F9"/>
          </a:solidFill>
          <a:ln w="1778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Watchlist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4069080"/>
            <a:ext cx="1051560" cy="566928"/>
          </a:xfrm>
          <a:prstGeom prst="roundRect">
            <a:avLst/>
          </a:prstGeom>
          <a:solidFill>
            <a:srgbClr val="FAEEEE"/>
          </a:solidFill>
          <a:ln w="17780"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4"/>
                </a:solidFill>
                <a:latin typeface="Aptos"/>
              </a:rPr>
              <a:t>Exit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627632" y="3749039"/>
            <a:ext cx="8065008" cy="320041"/>
          </a:xfrm>
          <a:prstGeom prst="line">
            <a:avLst/>
          </a:prstGeom>
          <a:ln w="1524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547872" y="3749039"/>
            <a:ext cx="6144768" cy="320041"/>
          </a:xfrm>
          <a:prstGeom prst="line">
            <a:avLst/>
          </a:prstGeom>
          <a:ln w="1524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468112" y="3749039"/>
            <a:ext cx="4224528" cy="320041"/>
          </a:xfrm>
          <a:prstGeom prst="line">
            <a:avLst/>
          </a:prstGeom>
          <a:ln w="1524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88352" y="3749039"/>
            <a:ext cx="2304288" cy="320041"/>
          </a:xfrm>
          <a:prstGeom prst="line">
            <a:avLst/>
          </a:prstGeom>
          <a:ln w="1524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308592" y="3749039"/>
            <a:ext cx="384048" cy="320041"/>
          </a:xfrm>
          <a:prstGeom prst="line">
            <a:avLst/>
          </a:prstGeom>
          <a:ln w="15240">
            <a:solidFill>
              <a:srgbClr val="1D7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2640" y="3749039"/>
            <a:ext cx="1207008" cy="320041"/>
          </a:xfrm>
          <a:prstGeom prst="line">
            <a:avLst/>
          </a:prstGeom>
          <a:ln w="15240">
            <a:solidFill>
              <a:srgbClr val="B4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A48"/>
                </a:solidFill>
                <a:latin typeface="Aptos"/>
              </a:rPr>
              <a:t>Each feature displays its result and then returns to the main menu; Exit ends the program.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80" y="5806440"/>
            <a:ext cx="3566160" cy="438912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Feature result → Main Menu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8.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Primary user interactions supported by the current program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FAF2DA"/>
          </a:solidFill>
          <a:ln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40156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8"/>
                </a:solidFill>
                <a:latin typeface="Aptos"/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34440"/>
            <a:ext cx="8321040" cy="4709160"/>
          </a:xfrm>
          <a:prstGeom prst="rect">
            <a:avLst/>
          </a:prstGeom>
          <a:noFill/>
          <a:ln w="1905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417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7D89"/>
                </a:solidFill>
                <a:latin typeface="Aptos"/>
              </a:rPr>
              <a:t>Movie Recommendation System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057400"/>
            <a:ext cx="2331720" cy="640080"/>
          </a:xfrm>
          <a:prstGeom prst="ellipse">
            <a:avLst/>
          </a:prstGeom>
          <a:solidFill>
            <a:srgbClr val="F2F7F9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Browse by Genre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463040" y="2377440"/>
            <a:ext cx="1783080" cy="685800"/>
          </a:xfrm>
          <a:prstGeom prst="line">
            <a:avLst/>
          </a:prstGeom>
          <a:ln w="12700">
            <a:solidFill>
              <a:srgbClr val="62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37960" y="2057400"/>
            <a:ext cx="2331720" cy="640080"/>
          </a:xfrm>
          <a:prstGeom prst="ellipse">
            <a:avLst/>
          </a:prstGeom>
          <a:solidFill>
            <a:srgbClr val="F2F7F9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View Top Rated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463040" y="2377440"/>
            <a:ext cx="5074920" cy="685800"/>
          </a:xfrm>
          <a:prstGeom prst="line">
            <a:avLst/>
          </a:prstGeom>
          <a:ln w="12700">
            <a:solidFill>
              <a:srgbClr val="62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46120" y="3154680"/>
            <a:ext cx="2331720" cy="640080"/>
          </a:xfrm>
          <a:prstGeom prst="ellipse">
            <a:avLst/>
          </a:prstGeom>
          <a:solidFill>
            <a:srgbClr val="F2F7F9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Get Random Movie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3063240"/>
            <a:ext cx="1783080" cy="411480"/>
          </a:xfrm>
          <a:prstGeom prst="line">
            <a:avLst/>
          </a:prstGeom>
          <a:ln w="12700">
            <a:solidFill>
              <a:srgbClr val="62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537960" y="3154680"/>
            <a:ext cx="2331720" cy="640080"/>
          </a:xfrm>
          <a:prstGeom prst="ellipse">
            <a:avLst/>
          </a:prstGeom>
          <a:solidFill>
            <a:srgbClr val="F2F7F9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Filter by Language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63040" y="3063240"/>
            <a:ext cx="5074920" cy="411480"/>
          </a:xfrm>
          <a:prstGeom prst="line">
            <a:avLst/>
          </a:prstGeom>
          <a:ln w="12700">
            <a:solidFill>
              <a:srgbClr val="62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46120" y="4251960"/>
            <a:ext cx="2331720" cy="640080"/>
          </a:xfrm>
          <a:prstGeom prst="ellipse">
            <a:avLst/>
          </a:prstGeom>
          <a:solidFill>
            <a:srgbClr val="F2F7F9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Manage Watchlist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3063240"/>
            <a:ext cx="1783080" cy="1508760"/>
          </a:xfrm>
          <a:prstGeom prst="line">
            <a:avLst/>
          </a:prstGeom>
          <a:ln w="12700">
            <a:solidFill>
              <a:srgbClr val="62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37960" y="4251960"/>
            <a:ext cx="2331720" cy="640080"/>
          </a:xfrm>
          <a:prstGeom prst="ellipse">
            <a:avLst/>
          </a:prstGeom>
          <a:solidFill>
            <a:srgbClr val="F2F7F9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Exit Program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63040" y="3063240"/>
            <a:ext cx="5074920" cy="1508760"/>
          </a:xfrm>
          <a:prstGeom prst="line">
            <a:avLst/>
          </a:prstGeom>
          <a:ln w="12700">
            <a:solidFill>
              <a:srgbClr val="626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9. 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Example: user requests a random movie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371600" cy="502920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5880" y="1874519"/>
            <a:ext cx="0" cy="3977641"/>
          </a:xfrm>
          <a:prstGeom prst="line">
            <a:avLst/>
          </a:prstGeom>
          <a:ln w="15240">
            <a:solidFill>
              <a:srgbClr val="626C7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54680" y="1325880"/>
            <a:ext cx="1371600" cy="502920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main_menu()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1874519"/>
            <a:ext cx="0" cy="3977641"/>
          </a:xfrm>
          <a:prstGeom prst="line">
            <a:avLst/>
          </a:prstGeom>
          <a:ln w="15240">
            <a:solidFill>
              <a:srgbClr val="626C7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97880" y="1325880"/>
            <a:ext cx="1371600" cy="502920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random_movie()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0" y="1874519"/>
            <a:ext cx="0" cy="3977641"/>
          </a:xfrm>
          <a:prstGeom prst="line">
            <a:avLst/>
          </a:prstGeom>
          <a:ln w="15240">
            <a:solidFill>
              <a:srgbClr val="626C7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41080" y="1325880"/>
            <a:ext cx="1371600" cy="502920"/>
          </a:xfrm>
          <a:prstGeom prst="roundRect">
            <a:avLst/>
          </a:prstGeom>
          <a:solidFill>
            <a:srgbClr val="E1F2F4"/>
          </a:solidFill>
          <a:ln w="1778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32B34"/>
                </a:solidFill>
                <a:latin typeface="Aptos"/>
              </a:rPr>
              <a:t>Movie Lists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1874519"/>
            <a:ext cx="0" cy="3977641"/>
          </a:xfrm>
          <a:prstGeom prst="line">
            <a:avLst/>
          </a:prstGeom>
          <a:ln w="15240">
            <a:solidFill>
              <a:srgbClr val="626C7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25880" y="2103120"/>
            <a:ext cx="2514600" cy="0"/>
          </a:xfrm>
          <a:prstGeom prst="line">
            <a:avLst/>
          </a:prstGeom>
          <a:ln w="1778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7340" y="1792223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1. Select option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834640"/>
            <a:ext cx="2743200" cy="0"/>
          </a:xfrm>
          <a:prstGeom prst="line">
            <a:avLst/>
          </a:prstGeom>
          <a:ln w="1778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06240" y="252374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2. Call random_movie()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0" y="3566160"/>
            <a:ext cx="2743200" cy="0"/>
          </a:xfrm>
          <a:prstGeom prst="line">
            <a:avLst/>
          </a:prstGeom>
          <a:ln w="1778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325526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3. Get all movies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583680" y="4297680"/>
            <a:ext cx="2743200" cy="0"/>
          </a:xfrm>
          <a:prstGeom prst="line">
            <a:avLst/>
          </a:prstGeom>
          <a:ln w="1778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0" y="398678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4. Return movie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840480" y="5029200"/>
            <a:ext cx="2743200" cy="0"/>
          </a:xfrm>
          <a:prstGeom prst="line">
            <a:avLst/>
          </a:prstGeom>
          <a:ln w="1778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06240" y="471830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5. Display result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25880" y="5623560"/>
            <a:ext cx="2514600" cy="0"/>
          </a:xfrm>
          <a:prstGeom prst="line">
            <a:avLst/>
          </a:prstGeom>
          <a:ln w="17780">
            <a:solidFill>
              <a:srgbClr val="14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77340" y="531266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2B34"/>
                </a:solidFill>
                <a:latin typeface="Aptos"/>
              </a:rPr>
              <a:t>6. Return to menu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10.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Functions present in the supplied Python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261872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welcome_screen()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Handles the opening yes/no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1261872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show_movies()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47672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Displays movies with rating, year and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1261872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genre_menu()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47672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Lets the user select one of seven genres.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90088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90088"/>
            <a:ext cx="73152" cy="1261872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136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get_all_movies()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52044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Combines all genre lists into one list.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2990088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2990088"/>
            <a:ext cx="73152" cy="1261872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3136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show_top_rated()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52044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Finds and displays the top 10 by rating.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990088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2990088"/>
            <a:ext cx="73152" cy="1261872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136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random_movie()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3520440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Uses random.choice() to select one movie.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62856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562856"/>
            <a:ext cx="73152" cy="1261872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70916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filter_by_language()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093208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Matches movies against the entered language.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562856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0" y="4562856"/>
            <a:ext cx="73152" cy="1261872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470916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watchlist_menu()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5093208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Adds and displays watchlist entries.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4562856"/>
            <a:ext cx="3337560" cy="1261872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20" y="4562856"/>
            <a:ext cx="73152" cy="1261872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470916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8"/>
                </a:solidFill>
                <a:latin typeface="Aptos"/>
              </a:rPr>
              <a:t>main_menu()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5093208"/>
            <a:ext cx="2971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B34"/>
                </a:solidFill>
                <a:latin typeface="Aptos"/>
              </a:rPr>
              <a:t>Controls the six main menu choices.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19963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6C76"/>
                </a:solidFill>
                <a:latin typeface="Aptos"/>
              </a:rPr>
              <a:t>Implementation note: these are functions inside one Python file, not separate modules/classes.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11. Data / Storage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How movie and watchlist data are represented in the supplied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1874519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74519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Movie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47548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Each movie is stored as: ["Name", Rating, Year, "Language"]
Example: ["The Dark Knight", 9.0, 2008, "English"]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120640" cy="1874519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1874519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6362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Genre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7548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Separate lists store Action, Sci-Fi, Drama, Thriller, Comedy, Romance and Animation movies.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20640" cy="160020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160020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0390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All Movies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87952"/>
            <a:ext cx="47548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get_all_movies() combines the seven genre lists into one list for rating, random selection and language filtering.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120640" cy="16002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73152" cy="16002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80390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Watchlist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187952"/>
            <a:ext cx="47548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watchlist = [] stores movie names entered by the user during the current program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26C76"/>
                </a:solidFill>
                <a:latin typeface="Aptos"/>
              </a:rPr>
              <a:t>The supplied code does not read from a CSV/database or save the watchlist permanently.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12. Design Decisions &amp;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37560" cy="164592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64592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A48"/>
                </a:solidFill>
                <a:latin typeface="Aptos"/>
              </a:rPr>
              <a:t>Lists of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Simple structure suitable for a Python Essentials project and easy to iterate 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337560" cy="16459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417320"/>
            <a:ext cx="73152" cy="16459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A48"/>
                </a:solidFill>
                <a:latin typeface="Aptos"/>
              </a:rPr>
              <a:t>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947672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Separates major tasks and makes the program easier to read and maintain.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337560" cy="164592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417320"/>
            <a:ext cx="73152" cy="164592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A48"/>
                </a:solidFill>
                <a:latin typeface="Aptos"/>
              </a:rPr>
              <a:t>Menu-driven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1947672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Requires no GUI libraries and keeps user interaction straightforward.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337560" cy="16459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73152" cy="16459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210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A48"/>
                </a:solidFill>
                <a:latin typeface="Aptos"/>
              </a:rPr>
              <a:t>random.choice()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005072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Provides a simple random recommendation without complex algorithms.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474720"/>
            <a:ext cx="3337560" cy="164592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474720"/>
            <a:ext cx="73152" cy="164592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6210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A48"/>
                </a:solidFill>
                <a:latin typeface="Aptos"/>
              </a:rPr>
              <a:t>Manual top-10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005072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Uses loops and comparisons to demonstrate core Python logic.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474720"/>
            <a:ext cx="3337560" cy="16459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3474720"/>
            <a:ext cx="73152" cy="16459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36210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A48"/>
                </a:solidFill>
                <a:latin typeface="Aptos"/>
              </a:rPr>
              <a:t>In-memory watchlist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005072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B34"/>
                </a:solidFill>
                <a:latin typeface="Aptos"/>
              </a:rPr>
              <a:t>Keeps the feature simple while demonstrating append(), membership and loops.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13.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Python concepts demonstrated in the current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16002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6002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Genre-wise movie collections and the watchlist.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17320"/>
            <a:ext cx="2468880" cy="16002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417320"/>
            <a:ext cx="73152" cy="16002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15636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Nested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Each movie record contains four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17320"/>
            <a:ext cx="2468880" cy="16002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417320"/>
            <a:ext cx="73152" cy="16002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15636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19476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Nine functions divide the program into manageable 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17320"/>
            <a:ext cx="2468880" cy="16002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417320"/>
            <a:ext cx="73152" cy="16002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5636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9476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for and while loops handle menus, searches and repeated interaction.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2468880" cy="16002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73152" cy="16002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6210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0050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if / elif / else validate choices and filter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3474720"/>
            <a:ext cx="2468880" cy="16002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3474720"/>
            <a:ext cx="73152" cy="16002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7" y="36210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String 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7" y="40050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strip() and lower() make user input easier to handle.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474720"/>
            <a:ext cx="2468880" cy="16002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474720"/>
            <a:ext cx="73152" cy="16002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7" y="36210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random 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7" y="40050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random.choice() selects a random movie.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474720"/>
            <a:ext cx="2468880" cy="16002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3474720"/>
            <a:ext cx="73152" cy="16002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9448" y="36210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8"/>
                </a:solidFill>
                <a:latin typeface="Aptos"/>
              </a:rPr>
              <a:t>List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4005072"/>
            <a:ext cx="2103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Concatenation, append(), remove() and membership checks are used.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14. Sample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Representative outputs from the current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347472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47472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Main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306324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B34"/>
                </a:solidFill>
                <a:latin typeface="Aptos"/>
              </a:rPr>
              <a:t>1. Browse movies by genre
2. Show top rated movies
3. Get a random movie
4. Filter movies by language
5. My watchlist
6. Exit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47472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47472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636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Random Movie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306324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---------- RANDOM MOVIE ----------
How about watching this one?
The Dark Knight
Rating: 9.0 | Year: 2008
| Language: English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347472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347472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636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Watchlist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06324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1. Add a movie to my watchlist
2. View my watchlist
3. Back to main menu
Example:
1. Inception
2. Interstellar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15. Testing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Basic functional testing based on the current menu and functions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  <a:gridCol w="5440680"/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Test Area</a:t>
                      </a:r>
                    </a:p>
                  </a:txBody>
                  <a:tcPr>
                    <a:solidFill>
                      <a:srgbClr val="14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>
                    <a:solidFill>
                      <a:srgbClr val="14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Expected Result</a:t>
                      </a:r>
                    </a:p>
                  </a:txBody>
                  <a:tcPr>
                    <a:solidFill>
                      <a:srgbClr val="142A48"/>
                    </a:solidFill>
                  </a:tcPr>
                </a:tc>
              </a:tr>
              <a:tr h="565785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Welcome input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yes / no / invalid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Correct branch or validation message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</a:tr>
              <a:tr h="565785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Genre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1–7 / invalid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Correct genre list or error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Top rated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Option 2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Exactly 10 highest-rated entries are displayed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</a:tr>
              <a:tr h="565785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Random movie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Option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One movie is selected and displayed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Language filter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Known / unknown language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Matches are displayed or no-result message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</a:tr>
              <a:tr h="565785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Watchlist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Add / view / 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Entries are added once and can be viewed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Exit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Option 6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232B34"/>
                          </a:solidFill>
                          <a:latin typeface="Aptos"/>
                        </a:rPr>
                        <a:t>Program prints goodbye and stops</a:t>
                      </a:r>
                    </a:p>
                  </a:txBody>
                  <a:tcPr>
                    <a:solidFill>
                      <a:srgbClr val="E1F2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16. 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Managing a large movie dataset across seven genre lists.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Keeping menu navigation clear while returning to the main menu after each feature.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Finding the top 10 movies using loops and list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Handling invalid choices and empty watchlist cases.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Filtering languages without making the comparison case-sensitive.</a:t>
            </a:r>
          </a:p>
          <a:p>
            <a:pPr>
              <a:spcAft>
                <a:spcPts val="10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• Keeping the implementation simple enough for a Python Essentials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17. Learnings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337560" cy="18288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Python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47672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Applied lists, nested lists, loops, conditions, functions, string methods and list operations in one working program.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Program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947672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Breaking tasks into functions made the menu system easier to understand and modify.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6362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User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47672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Learned to validate input and provide useful messages when users make invalid choices.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2A48"/>
                </a:solidFill>
                <a:latin typeface="Aptos"/>
              </a:rPr>
              <a:t>The project demonstrates how basic Python concepts can be combined to build a complete interactive application.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18.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C76"/>
                </a:solidFill>
                <a:latin typeface="Aptos"/>
              </a:rPr>
              <a:t>Possible extensions beyond the current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Read movie data from a CSV or database instead of storing it directly in the Python file.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Save the watchlist permanently between program runs.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Add a search-by-title feature.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Allow users to filter by rating range or release year.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Add multiple genres to a movie instead of assigning each record to one list.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Build a GUI or web interface after the core Python version is stable.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• Add personalized recommendations based on the user's saved preferences.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A48"/>
                </a:solidFill>
                <a:latin typeface="Aptos Display"/>
              </a:rPr>
              <a:t>19. References &amp; Submission Notes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166360" cy="1828800"/>
          </a:xfrm>
          <a:prstGeom prst="roundRect">
            <a:avLst/>
          </a:prstGeom>
          <a:solidFill>
            <a:srgbClr val="E1F2F4"/>
          </a:solidFill>
          <a:ln w="15240">
            <a:solidFill>
              <a:srgbClr val="1D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1D7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6362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Project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47672"/>
            <a:ext cx="4800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Student's supplied Python implementation and movie dataset used for this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1828800"/>
          </a:xfrm>
          <a:prstGeom prst="roundRect">
            <a:avLst/>
          </a:prstGeom>
          <a:solidFill>
            <a:srgbClr val="F2F7F9"/>
          </a:solidFill>
          <a:ln w="1524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73152" cy="1828800"/>
          </a:xfrm>
          <a:prstGeom prst="rect">
            <a:avLst/>
          </a:prstGeom>
          <a:solidFill>
            <a:srgbClr val="37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563624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A48"/>
                </a:solidFill>
                <a:latin typeface="Aptos"/>
              </a:rPr>
              <a:t>VITyarthi Guidelines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947672"/>
            <a:ext cx="4800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B34"/>
                </a:solidFill>
                <a:latin typeface="Aptos"/>
              </a:rPr>
              <a:t>Project structure, documentation and report sections are based on the Build Your Own Project guidelines supplied for the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57600"/>
            <a:ext cx="10652760" cy="1417320"/>
          </a:xfrm>
          <a:prstGeom prst="roundRect">
            <a:avLst/>
          </a:prstGeom>
          <a:solidFill>
            <a:srgbClr val="FAF2DA"/>
          </a:solidFill>
          <a:ln w="15240">
            <a:solidFill>
              <a:srgbClr val="E2A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657600"/>
            <a:ext cx="73152" cy="1417320"/>
          </a:xfrm>
          <a:prstGeom prst="rect">
            <a:avLst/>
          </a:prstGeom>
          <a:solidFill>
            <a:srgbClr val="E2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803904"/>
            <a:ext cx="10287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A48"/>
                </a:solidFill>
                <a:latin typeface="Aptos"/>
              </a:rPr>
              <a:t>Important Implementation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187952"/>
            <a:ext cx="10287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B34"/>
                </a:solidFill>
                <a:latin typeface="Aptos"/>
              </a:rPr>
              <a:t>The current implementation is one Python file containing multiple functions. It does not use a database, API, machine learning model or external CSV loading. The supplied guidelines mention a 5–10 meaningful modules/classes/files expectation, so this should be checked with the instructor before final submission.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52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42A48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26C76"/>
                </a:solidFill>
                <a:latin typeface="Aptos"/>
              </a:rPr>
              <a:t>Python Essentials • Movie Recommendation System   |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